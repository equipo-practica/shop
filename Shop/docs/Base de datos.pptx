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8E03-29B0-4933-9115-A4C610C04A1D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4BFA-E59D-4E97-9975-A07500978E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1721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8E03-29B0-4933-9115-A4C610C04A1D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4BFA-E59D-4E97-9975-A07500978E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7681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8E03-29B0-4933-9115-A4C610C04A1D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4BFA-E59D-4E97-9975-A07500978E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1818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8E03-29B0-4933-9115-A4C610C04A1D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4BFA-E59D-4E97-9975-A07500978E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6861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8E03-29B0-4933-9115-A4C610C04A1D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4BFA-E59D-4E97-9975-A07500978E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8823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8E03-29B0-4933-9115-A4C610C04A1D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4BFA-E59D-4E97-9975-A07500978E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7645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8E03-29B0-4933-9115-A4C610C04A1D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4BFA-E59D-4E97-9975-A07500978E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1600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8E03-29B0-4933-9115-A4C610C04A1D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4BFA-E59D-4E97-9975-A07500978E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033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8E03-29B0-4933-9115-A4C610C04A1D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4BFA-E59D-4E97-9975-A07500978E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533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8E03-29B0-4933-9115-A4C610C04A1D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4BFA-E59D-4E97-9975-A07500978E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6952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8E03-29B0-4933-9115-A4C610C04A1D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4BFA-E59D-4E97-9975-A07500978E7B}" type="slidenum">
              <a:rPr lang="es-ES" smtClean="0"/>
              <a:t>‹Nº›</a:t>
            </a:fld>
            <a:endParaRPr lang="es-E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59970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8E03-29B0-4933-9115-A4C610C04A1D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4BFA-E59D-4E97-9975-A07500978E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1668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8E03-29B0-4933-9115-A4C610C04A1D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4BFA-E59D-4E97-9975-A07500978E7B}" type="slidenum">
              <a:rPr lang="es-ES" smtClean="0"/>
              <a:t>‹Nº›</a:t>
            </a:fld>
            <a:endParaRPr lang="es-E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4229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8E03-29B0-4933-9115-A4C610C04A1D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4BFA-E59D-4E97-9975-A07500978E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03158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8E03-29B0-4933-9115-A4C610C04A1D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4BFA-E59D-4E97-9975-A07500978E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93682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8E03-29B0-4933-9115-A4C610C04A1D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64BFA-E59D-4E97-9975-A07500978E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096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A8E03-29B0-4933-9115-A4C610C04A1D}" type="datetimeFigureOut">
              <a:rPr lang="es-ES" smtClean="0"/>
              <a:t>07/02/2026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E264BFA-E59D-4E97-9975-A07500978E7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0856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93347" y="182878"/>
            <a:ext cx="7871946" cy="1041084"/>
          </a:xfrm>
        </p:spPr>
        <p:txBody>
          <a:bodyPr/>
          <a:lstStyle/>
          <a:p>
            <a:r>
              <a:rPr lang="es-ES" b="1" dirty="0" smtClean="0">
                <a:solidFill>
                  <a:schemeClr val="tx1"/>
                </a:solidFill>
              </a:rPr>
              <a:t>Base de datos: TABLAS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23843" y="2038638"/>
            <a:ext cx="10075492" cy="4515986"/>
          </a:xfrm>
        </p:spPr>
        <p:txBody>
          <a:bodyPr numCol="3"/>
          <a:lstStyle/>
          <a:p>
            <a:pPr algn="l"/>
            <a:r>
              <a:rPr lang="es-ES" sz="1600" b="1" dirty="0">
                <a:solidFill>
                  <a:schemeClr val="tx1"/>
                </a:solidFill>
              </a:rPr>
              <a:t>TABLA CLIENTE </a:t>
            </a:r>
            <a:endParaRPr lang="es-ES" sz="1600" b="1" dirty="0" smtClean="0">
              <a:solidFill>
                <a:schemeClr val="tx1"/>
              </a:solidFill>
            </a:endParaRPr>
          </a:p>
          <a:p>
            <a:pPr algn="l"/>
            <a:endParaRPr lang="es-ES" sz="1600" b="1" dirty="0">
              <a:solidFill>
                <a:schemeClr val="tx1"/>
              </a:solidFill>
            </a:endParaRPr>
          </a:p>
          <a:p>
            <a:pPr algn="l"/>
            <a:r>
              <a:rPr lang="es-ES" sz="1050" b="1" dirty="0"/>
              <a:t>CREATE TABLE cliente </a:t>
            </a:r>
            <a:r>
              <a:rPr lang="es-ES" sz="1050" b="1" dirty="0" smtClean="0"/>
              <a:t>( </a:t>
            </a:r>
          </a:p>
          <a:p>
            <a:pPr algn="l"/>
            <a:r>
              <a:rPr lang="es-ES" sz="1050" b="1" dirty="0" err="1" smtClean="0"/>
              <a:t>id_cliente</a:t>
            </a:r>
            <a:r>
              <a:rPr lang="es-ES" sz="1050" b="1" dirty="0" smtClean="0"/>
              <a:t> </a:t>
            </a:r>
            <a:r>
              <a:rPr lang="es-ES" sz="1050" b="1" dirty="0"/>
              <a:t>INT NOT NULL AUTO_INCREMENT, </a:t>
            </a:r>
            <a:r>
              <a:rPr lang="es-ES" sz="1050" b="1" dirty="0" smtClean="0"/>
              <a:t/>
            </a:r>
            <a:br>
              <a:rPr lang="es-ES" sz="1050" b="1" dirty="0" smtClean="0"/>
            </a:br>
            <a:r>
              <a:rPr lang="es-ES" sz="1050" b="1" dirty="0" smtClean="0"/>
              <a:t>nombre </a:t>
            </a:r>
            <a:r>
              <a:rPr lang="es-ES" sz="1050" b="1" dirty="0"/>
              <a:t>VARCHAR(200) NOT NULL, </a:t>
            </a:r>
            <a:r>
              <a:rPr lang="es-ES" sz="1050" b="1" dirty="0" smtClean="0"/>
              <a:t/>
            </a:r>
            <a:br>
              <a:rPr lang="es-ES" sz="1050" b="1" dirty="0" smtClean="0"/>
            </a:br>
            <a:r>
              <a:rPr lang="es-ES" sz="1050" b="1" dirty="0" smtClean="0"/>
              <a:t>email </a:t>
            </a:r>
            <a:r>
              <a:rPr lang="es-ES" sz="1050" b="1" dirty="0"/>
              <a:t>VARCHAR(150) NOT NULL, </a:t>
            </a:r>
            <a:r>
              <a:rPr lang="es-ES" sz="1050" b="1" dirty="0" smtClean="0"/>
              <a:t/>
            </a:r>
            <a:br>
              <a:rPr lang="es-ES" sz="1050" b="1" dirty="0" smtClean="0"/>
            </a:br>
            <a:r>
              <a:rPr lang="es-ES" sz="1050" b="1" dirty="0" smtClean="0"/>
              <a:t>VIP </a:t>
            </a:r>
            <a:r>
              <a:rPr lang="es-ES" sz="1050" b="1" dirty="0"/>
              <a:t>TINYINT(1) DEFAULT 0, </a:t>
            </a:r>
            <a:r>
              <a:rPr lang="es-ES" sz="1050" b="1" dirty="0" smtClean="0"/>
              <a:t/>
            </a:r>
            <a:br>
              <a:rPr lang="es-ES" sz="1050" b="1" dirty="0" smtClean="0"/>
            </a:br>
            <a:r>
              <a:rPr lang="es-ES" sz="1050" b="1" dirty="0" err="1" smtClean="0"/>
              <a:t>fecha_alta</a:t>
            </a:r>
            <a:r>
              <a:rPr lang="es-ES" sz="1050" b="1" dirty="0" smtClean="0"/>
              <a:t> </a:t>
            </a:r>
            <a:r>
              <a:rPr lang="es-ES" sz="1050" b="1" dirty="0"/>
              <a:t>DATE NOT NULL, </a:t>
            </a:r>
            <a:r>
              <a:rPr lang="es-ES" sz="1050" b="1" dirty="0" smtClean="0"/>
              <a:t/>
            </a:r>
            <a:br>
              <a:rPr lang="es-ES" sz="1050" b="1" dirty="0" smtClean="0"/>
            </a:br>
            <a:r>
              <a:rPr lang="es-ES" sz="1050" b="1" dirty="0" smtClean="0"/>
              <a:t>PRIMARY </a:t>
            </a:r>
            <a:r>
              <a:rPr lang="es-ES" sz="1050" b="1" dirty="0"/>
              <a:t>KEY (</a:t>
            </a:r>
            <a:r>
              <a:rPr lang="es-ES" sz="1050" b="1" dirty="0" err="1"/>
              <a:t>id_cliente</a:t>
            </a:r>
            <a:r>
              <a:rPr lang="es-ES" sz="1050" b="1" dirty="0"/>
              <a:t>), UNIQUE (email) </a:t>
            </a:r>
            <a:r>
              <a:rPr lang="es-ES" sz="1050" b="1" dirty="0" smtClean="0"/>
              <a:t>);</a:t>
            </a:r>
          </a:p>
          <a:p>
            <a:pPr algn="l"/>
            <a:endParaRPr lang="es-ES" sz="1050" b="1" dirty="0" smtClean="0"/>
          </a:p>
          <a:p>
            <a:pPr algn="l"/>
            <a:endParaRPr lang="es-ES" sz="1600" b="1" dirty="0" smtClean="0">
              <a:solidFill>
                <a:schemeClr val="tx1"/>
              </a:solidFill>
            </a:endParaRPr>
          </a:p>
          <a:p>
            <a:pPr algn="l"/>
            <a:endParaRPr lang="es-ES" sz="1600" b="1" dirty="0">
              <a:solidFill>
                <a:schemeClr val="tx1"/>
              </a:solidFill>
            </a:endParaRPr>
          </a:p>
          <a:p>
            <a:pPr algn="l"/>
            <a:endParaRPr lang="es-ES" sz="1600" b="1" dirty="0" smtClean="0">
              <a:solidFill>
                <a:schemeClr val="tx1"/>
              </a:solidFill>
            </a:endParaRPr>
          </a:p>
          <a:p>
            <a:pPr algn="l"/>
            <a:endParaRPr lang="es-ES" sz="1600" b="1" dirty="0">
              <a:solidFill>
                <a:schemeClr val="tx1"/>
              </a:solidFill>
            </a:endParaRPr>
          </a:p>
          <a:p>
            <a:pPr algn="l"/>
            <a:endParaRPr lang="es-ES" sz="1600" b="1" dirty="0" smtClean="0">
              <a:solidFill>
                <a:schemeClr val="tx1"/>
              </a:solidFill>
            </a:endParaRPr>
          </a:p>
          <a:p>
            <a:pPr algn="l"/>
            <a:r>
              <a:rPr lang="es-ES" sz="1600" b="1" dirty="0" smtClean="0">
                <a:solidFill>
                  <a:schemeClr val="tx1"/>
                </a:solidFill>
              </a:rPr>
              <a:t>TABLA </a:t>
            </a:r>
            <a:r>
              <a:rPr lang="es-ES" sz="1600" b="1" dirty="0">
                <a:solidFill>
                  <a:schemeClr val="tx1"/>
                </a:solidFill>
              </a:rPr>
              <a:t>PEDIDO </a:t>
            </a:r>
            <a:endParaRPr lang="es-ES" sz="1600" b="1" dirty="0">
              <a:solidFill>
                <a:schemeClr val="tx1"/>
              </a:solidFill>
            </a:endParaRPr>
          </a:p>
          <a:p>
            <a:pPr algn="l"/>
            <a:endParaRPr lang="es-ES" sz="1050" b="1" dirty="0"/>
          </a:p>
          <a:p>
            <a:pPr algn="l"/>
            <a:r>
              <a:rPr lang="es-ES" sz="1050" b="1" dirty="0"/>
              <a:t>CREATE TABLE pedido ( </a:t>
            </a:r>
            <a:endParaRPr lang="es-ES" sz="1050" b="1" dirty="0" smtClean="0"/>
          </a:p>
          <a:p>
            <a:pPr algn="l"/>
            <a:r>
              <a:rPr lang="es-ES" sz="1050" b="1" dirty="0" err="1" smtClean="0"/>
              <a:t>id_pedido</a:t>
            </a:r>
            <a:r>
              <a:rPr lang="es-ES" sz="1050" b="1" dirty="0" smtClean="0"/>
              <a:t> </a:t>
            </a:r>
            <a:r>
              <a:rPr lang="es-ES" sz="1050" b="1" dirty="0"/>
              <a:t>INT NOT NULL AUTO_INCREMENT, </a:t>
            </a:r>
            <a:r>
              <a:rPr lang="es-ES" sz="1050" b="1" dirty="0" smtClean="0"/>
              <a:t/>
            </a:r>
            <a:br>
              <a:rPr lang="es-ES" sz="1050" b="1" dirty="0" smtClean="0"/>
            </a:br>
            <a:r>
              <a:rPr lang="es-ES" sz="1050" b="1" dirty="0" smtClean="0"/>
              <a:t>fecha </a:t>
            </a:r>
            <a:r>
              <a:rPr lang="es-ES" sz="1050" b="1" dirty="0"/>
              <a:t>DATETIME DEFAULT CURRENT_TIMESTAMP, </a:t>
            </a:r>
            <a:r>
              <a:rPr lang="es-ES" sz="1050" b="1" dirty="0" smtClean="0"/>
              <a:t/>
            </a:r>
            <a:br>
              <a:rPr lang="es-ES" sz="1050" b="1" dirty="0" smtClean="0"/>
            </a:br>
            <a:r>
              <a:rPr lang="es-ES" sz="1050" b="1" dirty="0" smtClean="0"/>
              <a:t>importe </a:t>
            </a:r>
            <a:r>
              <a:rPr lang="es-ES" sz="1050" b="1" dirty="0"/>
              <a:t>DECIMAL(10, 2) NOT NULL, </a:t>
            </a:r>
            <a:r>
              <a:rPr lang="es-ES" sz="1050" b="1" dirty="0" smtClean="0"/>
              <a:t/>
            </a:r>
            <a:br>
              <a:rPr lang="es-ES" sz="1050" b="1" dirty="0" smtClean="0"/>
            </a:br>
            <a:r>
              <a:rPr lang="es-ES" sz="1050" b="1" dirty="0" smtClean="0"/>
              <a:t>pagado </a:t>
            </a:r>
            <a:r>
              <a:rPr lang="es-ES" sz="1050" b="1" dirty="0"/>
              <a:t>TINYINT(1) DEFAULT 0, </a:t>
            </a:r>
            <a:r>
              <a:rPr lang="es-ES" sz="1050" b="1" dirty="0" smtClean="0"/>
              <a:t/>
            </a:r>
            <a:br>
              <a:rPr lang="es-ES" sz="1050" b="1" dirty="0" smtClean="0"/>
            </a:br>
            <a:r>
              <a:rPr lang="es-ES" sz="1050" b="1" dirty="0" err="1" smtClean="0"/>
              <a:t>id_cliente</a:t>
            </a:r>
            <a:r>
              <a:rPr lang="es-ES" sz="1050" b="1" dirty="0" smtClean="0"/>
              <a:t> </a:t>
            </a:r>
            <a:r>
              <a:rPr lang="es-ES" sz="1050" b="1" dirty="0"/>
              <a:t>INT NOT NULL, </a:t>
            </a:r>
            <a:r>
              <a:rPr lang="es-ES" sz="1050" b="1" dirty="0" smtClean="0"/>
              <a:t/>
            </a:r>
            <a:br>
              <a:rPr lang="es-ES" sz="1050" b="1" dirty="0" smtClean="0"/>
            </a:br>
            <a:r>
              <a:rPr lang="es-ES" sz="1050" b="1" dirty="0" smtClean="0"/>
              <a:t>PRIMARY </a:t>
            </a:r>
            <a:r>
              <a:rPr lang="es-ES" sz="1050" b="1" dirty="0"/>
              <a:t>KEY (</a:t>
            </a:r>
            <a:r>
              <a:rPr lang="es-ES" sz="1050" b="1" dirty="0" err="1"/>
              <a:t>id_pedido</a:t>
            </a:r>
            <a:r>
              <a:rPr lang="es-ES" sz="1050" b="1" dirty="0"/>
              <a:t>), </a:t>
            </a:r>
            <a:r>
              <a:rPr lang="es-ES" sz="1050" b="1" dirty="0" smtClean="0"/>
              <a:t/>
            </a:r>
            <a:br>
              <a:rPr lang="es-ES" sz="1050" b="1" dirty="0" smtClean="0"/>
            </a:br>
            <a:r>
              <a:rPr lang="es-ES" sz="1050" b="1" dirty="0" smtClean="0"/>
              <a:t>CONSTRAINT </a:t>
            </a:r>
            <a:r>
              <a:rPr lang="es-ES" sz="1050" b="1" dirty="0" err="1"/>
              <a:t>fk_cliente_pedido</a:t>
            </a:r>
            <a:r>
              <a:rPr lang="es-ES" sz="1050" b="1" dirty="0"/>
              <a:t> FOREIGN KEY (</a:t>
            </a:r>
            <a:r>
              <a:rPr lang="es-ES" sz="1050" b="1" dirty="0" err="1"/>
              <a:t>id_cliente</a:t>
            </a:r>
            <a:r>
              <a:rPr lang="es-ES" sz="1050" b="1" dirty="0"/>
              <a:t>) REFERENCES cliente(</a:t>
            </a:r>
            <a:r>
              <a:rPr lang="es-ES" sz="1050" b="1" dirty="0" err="1"/>
              <a:t>id_cliente</a:t>
            </a:r>
            <a:r>
              <a:rPr lang="es-ES" sz="1050" b="1" dirty="0"/>
              <a:t>) ON DELETE CASCADE ON UPDATE CASCADE </a:t>
            </a:r>
            <a:r>
              <a:rPr lang="es-ES" sz="1050" b="1" dirty="0" smtClean="0"/>
              <a:t>);</a:t>
            </a:r>
          </a:p>
          <a:p>
            <a:pPr algn="l"/>
            <a:endParaRPr lang="es-ES" sz="1050" b="1" dirty="0" smtClean="0"/>
          </a:p>
          <a:p>
            <a:pPr algn="l"/>
            <a:endParaRPr lang="es-ES" sz="1050" b="1" dirty="0"/>
          </a:p>
          <a:p>
            <a:pPr algn="l"/>
            <a:endParaRPr lang="es-ES" sz="1050" b="1" dirty="0" smtClean="0"/>
          </a:p>
          <a:p>
            <a:pPr algn="l"/>
            <a:endParaRPr lang="es-ES" sz="1050" b="1" dirty="0"/>
          </a:p>
          <a:p>
            <a:pPr algn="l"/>
            <a:endParaRPr lang="es-ES" sz="1050" b="1" dirty="0" smtClean="0"/>
          </a:p>
          <a:p>
            <a:pPr algn="l"/>
            <a:endParaRPr lang="es-ES" sz="1050" b="1" dirty="0" smtClean="0"/>
          </a:p>
          <a:p>
            <a:pPr algn="l"/>
            <a:r>
              <a:rPr lang="es-ES" sz="1600" b="1" dirty="0" smtClean="0">
                <a:solidFill>
                  <a:schemeClr val="tx1"/>
                </a:solidFill>
              </a:rPr>
              <a:t>TABLA </a:t>
            </a:r>
            <a:r>
              <a:rPr lang="es-ES" sz="1600" b="1" dirty="0">
                <a:solidFill>
                  <a:schemeClr val="tx1"/>
                </a:solidFill>
              </a:rPr>
              <a:t>ENVIO </a:t>
            </a:r>
            <a:endParaRPr lang="es-ES" sz="1600" b="1" dirty="0">
              <a:solidFill>
                <a:schemeClr val="tx1"/>
              </a:solidFill>
            </a:endParaRPr>
          </a:p>
          <a:p>
            <a:pPr algn="l"/>
            <a:endParaRPr lang="es-ES" sz="1050" b="1" dirty="0"/>
          </a:p>
          <a:p>
            <a:pPr algn="l"/>
            <a:r>
              <a:rPr lang="es-ES" sz="1050" b="1" dirty="0"/>
              <a:t>CREATE TABLE </a:t>
            </a:r>
            <a:r>
              <a:rPr lang="es-ES" sz="1050" b="1" dirty="0" err="1"/>
              <a:t>envio</a:t>
            </a:r>
            <a:r>
              <a:rPr lang="es-ES" sz="1050" b="1" dirty="0"/>
              <a:t> ( </a:t>
            </a:r>
            <a:endParaRPr lang="es-ES" sz="1050" b="1" dirty="0" smtClean="0"/>
          </a:p>
          <a:p>
            <a:pPr algn="l"/>
            <a:r>
              <a:rPr lang="es-ES" sz="1050" b="1" dirty="0" err="1" smtClean="0"/>
              <a:t>id_envio</a:t>
            </a:r>
            <a:r>
              <a:rPr lang="es-ES" sz="1050" b="1" dirty="0" smtClean="0"/>
              <a:t> </a:t>
            </a:r>
            <a:r>
              <a:rPr lang="es-ES" sz="1050" b="1" dirty="0"/>
              <a:t>INT NOT NULL AUTO_INCREMENT</a:t>
            </a:r>
            <a:r>
              <a:rPr lang="es-ES" sz="1050" b="1" dirty="0" smtClean="0"/>
              <a:t>,</a:t>
            </a:r>
            <a:br>
              <a:rPr lang="es-ES" sz="1050" b="1" dirty="0" smtClean="0"/>
            </a:br>
            <a:r>
              <a:rPr lang="es-ES" sz="1050" b="1" dirty="0" smtClean="0"/>
              <a:t>estado </a:t>
            </a:r>
            <a:r>
              <a:rPr lang="es-ES" sz="1050" b="1" dirty="0"/>
              <a:t>VARCHAR(50) NOT NULL, </a:t>
            </a:r>
            <a:r>
              <a:rPr lang="es-ES" sz="1050" b="1" dirty="0" smtClean="0"/>
              <a:t/>
            </a:r>
            <a:br>
              <a:rPr lang="es-ES" sz="1050" b="1" dirty="0" smtClean="0"/>
            </a:br>
            <a:r>
              <a:rPr lang="es-ES" sz="1050" b="1" dirty="0" err="1" smtClean="0"/>
              <a:t>direccion</a:t>
            </a:r>
            <a:r>
              <a:rPr lang="es-ES" sz="1050" b="1" dirty="0" smtClean="0"/>
              <a:t> </a:t>
            </a:r>
            <a:r>
              <a:rPr lang="es-ES" sz="1050" b="1" dirty="0"/>
              <a:t>VARCHAR(255) NOT NULL, </a:t>
            </a:r>
            <a:r>
              <a:rPr lang="es-ES" sz="1050" b="1" dirty="0" smtClean="0"/>
              <a:t/>
            </a:r>
            <a:br>
              <a:rPr lang="es-ES" sz="1050" b="1" dirty="0" smtClean="0"/>
            </a:br>
            <a:r>
              <a:rPr lang="es-ES" sz="1050" b="1" dirty="0" err="1" smtClean="0"/>
              <a:t>fecha_entrega</a:t>
            </a:r>
            <a:r>
              <a:rPr lang="es-ES" sz="1050" b="1" dirty="0" smtClean="0"/>
              <a:t> </a:t>
            </a:r>
            <a:r>
              <a:rPr lang="es-ES" sz="1050" b="1" dirty="0"/>
              <a:t>DATETIME, </a:t>
            </a:r>
            <a:r>
              <a:rPr lang="es-ES" sz="1050" b="1" dirty="0" smtClean="0"/>
              <a:t/>
            </a:r>
            <a:br>
              <a:rPr lang="es-ES" sz="1050" b="1" dirty="0" smtClean="0"/>
            </a:br>
            <a:r>
              <a:rPr lang="es-ES" sz="1050" b="1" dirty="0" err="1" smtClean="0"/>
              <a:t>id_pedido</a:t>
            </a:r>
            <a:r>
              <a:rPr lang="es-ES" sz="1050" b="1" dirty="0" smtClean="0"/>
              <a:t> </a:t>
            </a:r>
            <a:r>
              <a:rPr lang="es-ES" sz="1050" b="1" dirty="0"/>
              <a:t>INT NOT NULL, </a:t>
            </a:r>
            <a:r>
              <a:rPr lang="es-ES" sz="1050" b="1" dirty="0" smtClean="0"/>
              <a:t/>
            </a:r>
            <a:br>
              <a:rPr lang="es-ES" sz="1050" b="1" dirty="0" smtClean="0"/>
            </a:br>
            <a:r>
              <a:rPr lang="es-ES" sz="1050" b="1" dirty="0" smtClean="0"/>
              <a:t>PRIMARY </a:t>
            </a:r>
            <a:r>
              <a:rPr lang="es-ES" sz="1050" b="1" dirty="0"/>
              <a:t>KEY (</a:t>
            </a:r>
            <a:r>
              <a:rPr lang="es-ES" sz="1050" b="1" dirty="0" err="1"/>
              <a:t>id_envio</a:t>
            </a:r>
            <a:r>
              <a:rPr lang="es-ES" sz="1050" b="1" dirty="0"/>
              <a:t>), </a:t>
            </a:r>
            <a:r>
              <a:rPr lang="es-ES" sz="1050" b="1" dirty="0" smtClean="0"/>
              <a:t/>
            </a:r>
            <a:br>
              <a:rPr lang="es-ES" sz="1050" b="1" dirty="0" smtClean="0"/>
            </a:br>
            <a:r>
              <a:rPr lang="es-ES" sz="1050" b="1" dirty="0" smtClean="0"/>
              <a:t>CONSTRAINT </a:t>
            </a:r>
            <a:r>
              <a:rPr lang="es-ES" sz="1050" b="1" dirty="0" err="1"/>
              <a:t>fk_pedido_envio</a:t>
            </a:r>
            <a:r>
              <a:rPr lang="es-ES" sz="1050" b="1" dirty="0"/>
              <a:t> FOREIGN KEY (</a:t>
            </a:r>
            <a:r>
              <a:rPr lang="es-ES" sz="1050" b="1" dirty="0" err="1"/>
              <a:t>id_pedido</a:t>
            </a:r>
            <a:r>
              <a:rPr lang="es-ES" sz="1050" b="1" dirty="0"/>
              <a:t>) REFERENCES pedido(</a:t>
            </a:r>
            <a:r>
              <a:rPr lang="es-ES" sz="1050" b="1" dirty="0" err="1"/>
              <a:t>id_pedido</a:t>
            </a:r>
            <a:r>
              <a:rPr lang="es-ES" sz="1050" b="1" dirty="0"/>
              <a:t>) ON DELETE CASCADE ON UPDATE CASCADE );</a:t>
            </a:r>
          </a:p>
        </p:txBody>
      </p:sp>
      <p:pic>
        <p:nvPicPr>
          <p:cNvPr id="1026" name="Picture 2" descr="MariaDB Icon SVG Vector &amp; PNG Free Download | UXW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208" y="337366"/>
            <a:ext cx="898005" cy="732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076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80920" y="182878"/>
            <a:ext cx="7709576" cy="1041084"/>
          </a:xfrm>
        </p:spPr>
        <p:txBody>
          <a:bodyPr/>
          <a:lstStyle/>
          <a:p>
            <a:r>
              <a:rPr lang="es-ES" b="1" dirty="0" smtClean="0">
                <a:solidFill>
                  <a:schemeClr val="tx1"/>
                </a:solidFill>
              </a:rPr>
              <a:t>Base de datos: INSERT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46930" y="1354975"/>
            <a:ext cx="9648203" cy="5182558"/>
          </a:xfrm>
        </p:spPr>
        <p:txBody>
          <a:bodyPr numCol="3">
            <a:normAutofit/>
          </a:bodyPr>
          <a:lstStyle/>
          <a:p>
            <a:pPr algn="l"/>
            <a:r>
              <a:rPr lang="es-ES" sz="1100" b="1" dirty="0">
                <a:solidFill>
                  <a:schemeClr val="tx1"/>
                </a:solidFill>
              </a:rPr>
              <a:t>CLIENTE (10 registros)</a:t>
            </a:r>
          </a:p>
          <a:p>
            <a:pPr algn="l"/>
            <a:endParaRPr lang="es-ES" sz="900" b="1" dirty="0"/>
          </a:p>
          <a:p>
            <a:pPr algn="l"/>
            <a:r>
              <a:rPr lang="es-ES" sz="900" b="1" dirty="0"/>
              <a:t>INSERT INTO cliente (</a:t>
            </a:r>
            <a:r>
              <a:rPr lang="es-ES" sz="900" b="1" dirty="0" err="1"/>
              <a:t>id_cliente</a:t>
            </a:r>
            <a:r>
              <a:rPr lang="es-ES" sz="900" b="1" dirty="0"/>
              <a:t>, nombre, email, VIP, </a:t>
            </a:r>
            <a:r>
              <a:rPr lang="es-ES" sz="900" b="1" dirty="0" err="1"/>
              <a:t>fecha_alta</a:t>
            </a:r>
            <a:r>
              <a:rPr lang="es-ES" sz="900" b="1" dirty="0"/>
              <a:t>) VALUES</a:t>
            </a:r>
          </a:p>
          <a:p>
            <a:pPr algn="l"/>
            <a:r>
              <a:rPr lang="es-ES" sz="900" b="1" dirty="0"/>
              <a:t>(1, 'Juan Pérez', 'juan.perez@email.com', TRUE,  '2023-01-15'),</a:t>
            </a:r>
          </a:p>
          <a:p>
            <a:pPr algn="l"/>
            <a:r>
              <a:rPr lang="es-ES" sz="900" b="1" dirty="0"/>
              <a:t>(2, 'María López', 'maria.lopez@email.com', FALSE, '2023-02-10'),</a:t>
            </a:r>
          </a:p>
          <a:p>
            <a:pPr algn="l"/>
            <a:r>
              <a:rPr lang="es-ES" sz="900" b="1" dirty="0"/>
              <a:t>(3, 'Carlos Gómez', 'carlos.gomez@email.com', TRUE,  '2023-03-05'),</a:t>
            </a:r>
          </a:p>
          <a:p>
            <a:pPr algn="l"/>
            <a:r>
              <a:rPr lang="es-ES" sz="900" b="1" dirty="0"/>
              <a:t>(4, 'Laura Martín', 'laura.martin@email.com', FALSE, '2023-03-20'),</a:t>
            </a:r>
          </a:p>
          <a:p>
            <a:pPr algn="l"/>
            <a:r>
              <a:rPr lang="es-ES" sz="900" b="1" dirty="0"/>
              <a:t>(5, 'Pedro Sánchez', 'pedro.sanchez@email.com', FALSE, '2023-04-01'),</a:t>
            </a:r>
          </a:p>
          <a:p>
            <a:pPr algn="l"/>
            <a:r>
              <a:rPr lang="es-ES" sz="900" b="1" dirty="0"/>
              <a:t>(6, 'Ana Torres', 'ana.torres@email.com', TRUE,  '2023-04-18'),</a:t>
            </a:r>
          </a:p>
          <a:p>
            <a:pPr algn="l"/>
            <a:r>
              <a:rPr lang="es-ES" sz="900" b="1" dirty="0"/>
              <a:t>(7, 'David Ruiz', 'david.ruiz@email.com', FALSE, '2023-05-02'),</a:t>
            </a:r>
          </a:p>
          <a:p>
            <a:pPr algn="l"/>
            <a:r>
              <a:rPr lang="es-ES" sz="900" b="1" dirty="0"/>
              <a:t>(8, 'Elena Navarro', 'elena.navarro@email.com', TRUE,  '2023-05-15'),</a:t>
            </a:r>
          </a:p>
          <a:p>
            <a:pPr algn="l"/>
            <a:r>
              <a:rPr lang="es-ES" sz="900" b="1" dirty="0"/>
              <a:t>(9, 'Sergio Molina', 'sergio.molina@email.com', FALSE, '2023-06-01'),</a:t>
            </a:r>
          </a:p>
          <a:p>
            <a:pPr algn="l"/>
            <a:r>
              <a:rPr lang="es-ES" sz="900" b="1" dirty="0"/>
              <a:t>(10,'Lucía Romero', 'lucia.romero@email.com', TRUE,  '2023-06-12</a:t>
            </a:r>
            <a:r>
              <a:rPr lang="es-ES" sz="900" b="1" dirty="0" smtClean="0"/>
              <a:t>');</a:t>
            </a:r>
          </a:p>
          <a:p>
            <a:pPr algn="l"/>
            <a:r>
              <a:rPr lang="es-ES" sz="1100" b="1" dirty="0">
                <a:solidFill>
                  <a:schemeClr val="tx1"/>
                </a:solidFill>
              </a:rPr>
              <a:t>PEDIDO </a:t>
            </a:r>
            <a:r>
              <a:rPr lang="es-ES" sz="1100" b="1" dirty="0">
                <a:solidFill>
                  <a:schemeClr val="tx1"/>
                </a:solidFill>
              </a:rPr>
              <a:t>(10 registros)</a:t>
            </a:r>
          </a:p>
          <a:p>
            <a:pPr algn="l"/>
            <a:endParaRPr lang="es-ES" sz="900" dirty="0"/>
          </a:p>
          <a:p>
            <a:pPr algn="l"/>
            <a:r>
              <a:rPr lang="es-ES" sz="900" b="1" dirty="0"/>
              <a:t>INSERT INTO pedido (</a:t>
            </a:r>
            <a:r>
              <a:rPr lang="es-ES" sz="900" b="1" dirty="0" err="1"/>
              <a:t>id_pedido</a:t>
            </a:r>
            <a:r>
              <a:rPr lang="es-ES" sz="900" b="1" dirty="0"/>
              <a:t>, fecha, importe, pagado, </a:t>
            </a:r>
            <a:r>
              <a:rPr lang="es-ES" sz="900" b="1" dirty="0" err="1"/>
              <a:t>id_cliente</a:t>
            </a:r>
            <a:r>
              <a:rPr lang="es-ES" sz="900" b="1" dirty="0"/>
              <a:t>) VALUES</a:t>
            </a:r>
          </a:p>
          <a:p>
            <a:pPr algn="l"/>
            <a:r>
              <a:rPr lang="es-ES" sz="900" b="1" dirty="0"/>
              <a:t>(1, '2023-06-20', 120.50, TRUE,  1),</a:t>
            </a:r>
          </a:p>
          <a:p>
            <a:pPr algn="l"/>
            <a:r>
              <a:rPr lang="es-ES" sz="900" b="1" dirty="0"/>
              <a:t>(2, '2023-06-22', 75.99,  FALSE, 2),</a:t>
            </a:r>
          </a:p>
          <a:p>
            <a:pPr algn="l"/>
            <a:r>
              <a:rPr lang="es-ES" sz="900" b="1" dirty="0"/>
              <a:t>(3, '2023-06-25', 220.00, TRUE,  3),</a:t>
            </a:r>
          </a:p>
          <a:p>
            <a:pPr algn="l"/>
            <a:r>
              <a:rPr lang="es-ES" sz="900" b="1" dirty="0"/>
              <a:t>(4, '2023-06-28', 45.30,  TRUE,  4),</a:t>
            </a:r>
          </a:p>
          <a:p>
            <a:pPr algn="l"/>
            <a:r>
              <a:rPr lang="es-ES" sz="900" b="1" dirty="0"/>
              <a:t>(5, '2023-07-01', 89.90,  FALSE, 5),</a:t>
            </a:r>
          </a:p>
          <a:p>
            <a:pPr algn="l"/>
            <a:r>
              <a:rPr lang="es-ES" sz="900" b="1" dirty="0"/>
              <a:t>(6, '2023-07-03', 150.75, TRUE,  6),</a:t>
            </a:r>
          </a:p>
          <a:p>
            <a:pPr algn="l"/>
            <a:r>
              <a:rPr lang="es-ES" sz="900" b="1" dirty="0"/>
              <a:t>(7, '2023-07-05', 60.00,  TRUE,  7),</a:t>
            </a:r>
          </a:p>
          <a:p>
            <a:pPr algn="l"/>
            <a:r>
              <a:rPr lang="es-ES" sz="900" b="1" dirty="0"/>
              <a:t>(8, '2023-07-07', 310.20, FALSE, 8),</a:t>
            </a:r>
          </a:p>
          <a:p>
            <a:pPr algn="l"/>
            <a:r>
              <a:rPr lang="es-ES" sz="900" b="1" dirty="0"/>
              <a:t>(9, '2023-07-09', 99.99,  TRUE,  9),</a:t>
            </a:r>
          </a:p>
          <a:p>
            <a:pPr algn="l"/>
            <a:r>
              <a:rPr lang="es-ES" sz="900" b="1" dirty="0"/>
              <a:t>(10,'2023-07-11', 180.00, </a:t>
            </a:r>
            <a:r>
              <a:rPr lang="es-ES" sz="900" b="1" dirty="0" smtClean="0"/>
              <a:t>TRUE</a:t>
            </a:r>
            <a:r>
              <a:rPr lang="es-ES" sz="900" b="1" dirty="0"/>
              <a:t>,  10</a:t>
            </a:r>
            <a:r>
              <a:rPr lang="es-ES" sz="900" b="1" dirty="0" smtClean="0"/>
              <a:t>);</a:t>
            </a:r>
          </a:p>
          <a:p>
            <a:pPr algn="l"/>
            <a:endParaRPr lang="es-ES" sz="900" b="1" dirty="0"/>
          </a:p>
          <a:p>
            <a:pPr algn="l"/>
            <a:endParaRPr lang="es-ES" sz="900" b="1" dirty="0" smtClean="0"/>
          </a:p>
          <a:p>
            <a:pPr algn="l"/>
            <a:endParaRPr lang="es-ES" sz="900" b="1" dirty="0"/>
          </a:p>
          <a:p>
            <a:pPr algn="l"/>
            <a:endParaRPr lang="es-ES" sz="900" b="1" dirty="0" smtClean="0"/>
          </a:p>
          <a:p>
            <a:pPr algn="l"/>
            <a:endParaRPr lang="es-ES" sz="900" b="1" dirty="0"/>
          </a:p>
          <a:p>
            <a:pPr algn="l"/>
            <a:endParaRPr lang="es-ES" sz="900" b="1" dirty="0" smtClean="0"/>
          </a:p>
          <a:p>
            <a:pPr algn="l"/>
            <a:r>
              <a:rPr lang="es-ES" sz="1100" b="1" dirty="0">
                <a:solidFill>
                  <a:schemeClr val="tx1"/>
                </a:solidFill>
              </a:rPr>
              <a:t>ENVÍO </a:t>
            </a:r>
            <a:r>
              <a:rPr lang="es-ES" sz="1100" b="1" dirty="0">
                <a:solidFill>
                  <a:schemeClr val="tx1"/>
                </a:solidFill>
              </a:rPr>
              <a:t>(10 registros)</a:t>
            </a:r>
          </a:p>
          <a:p>
            <a:pPr algn="l"/>
            <a:endParaRPr lang="es-ES" sz="900" b="1" dirty="0"/>
          </a:p>
          <a:p>
            <a:pPr algn="l"/>
            <a:r>
              <a:rPr lang="es-ES" sz="900" b="1" dirty="0"/>
              <a:t>INSERT INTO </a:t>
            </a:r>
            <a:r>
              <a:rPr lang="es-ES" sz="900" b="1" dirty="0" err="1"/>
              <a:t>envio</a:t>
            </a:r>
            <a:r>
              <a:rPr lang="es-ES" sz="900" b="1" dirty="0"/>
              <a:t> (</a:t>
            </a:r>
            <a:r>
              <a:rPr lang="es-ES" sz="900" b="1" dirty="0" err="1"/>
              <a:t>id_envio</a:t>
            </a:r>
            <a:r>
              <a:rPr lang="es-ES" sz="900" b="1" dirty="0"/>
              <a:t>, estado, </a:t>
            </a:r>
            <a:r>
              <a:rPr lang="es-ES" sz="900" b="1" dirty="0" err="1"/>
              <a:t>direccion</a:t>
            </a:r>
            <a:r>
              <a:rPr lang="es-ES" sz="900" b="1" dirty="0"/>
              <a:t>, </a:t>
            </a:r>
            <a:r>
              <a:rPr lang="es-ES" sz="900" b="1" dirty="0" err="1"/>
              <a:t>fecha_entrega</a:t>
            </a:r>
            <a:r>
              <a:rPr lang="es-ES" sz="900" b="1" dirty="0"/>
              <a:t>, </a:t>
            </a:r>
            <a:r>
              <a:rPr lang="es-ES" sz="900" b="1" dirty="0" err="1"/>
              <a:t>id_pedido</a:t>
            </a:r>
            <a:r>
              <a:rPr lang="es-ES" sz="900" b="1" dirty="0"/>
              <a:t>) VALUES</a:t>
            </a:r>
          </a:p>
          <a:p>
            <a:pPr algn="l"/>
            <a:r>
              <a:rPr lang="es-ES" sz="900" b="1" dirty="0"/>
              <a:t>(1, 'Entregado', 'Calle Mayor 10, Zaragoza', '2023-06-23', 1),</a:t>
            </a:r>
          </a:p>
          <a:p>
            <a:pPr algn="l"/>
            <a:r>
              <a:rPr lang="es-ES" sz="900" b="1" dirty="0"/>
              <a:t>(2, 'Pendiente', 'Av. Cataluña 45, Barcelona', NULL, 2),</a:t>
            </a:r>
          </a:p>
          <a:p>
            <a:pPr algn="l"/>
            <a:r>
              <a:rPr lang="es-ES" sz="900" b="1" dirty="0"/>
              <a:t>(3, 'Entregado', 'Calle Sol 8, Madrid', '2023-06-28', 3),</a:t>
            </a:r>
          </a:p>
          <a:p>
            <a:pPr algn="l"/>
            <a:r>
              <a:rPr lang="es-ES" sz="900" b="1" dirty="0"/>
              <a:t>(4, 'Entregado', 'Plaza España 3, Valencia', '2023-07-01', 4),</a:t>
            </a:r>
          </a:p>
          <a:p>
            <a:pPr algn="l"/>
            <a:r>
              <a:rPr lang="es-ES" sz="900" b="1" dirty="0"/>
              <a:t>(5, 'Enviado', 'Calle Luna 12, Sevilla', NULL, 5),</a:t>
            </a:r>
          </a:p>
          <a:p>
            <a:pPr algn="l"/>
            <a:r>
              <a:rPr lang="es-ES" sz="900" b="1" dirty="0"/>
              <a:t>(6, 'Entregado', 'Av. Goya 22, Zaragoza', '2023-07-06', 6),</a:t>
            </a:r>
          </a:p>
          <a:p>
            <a:pPr algn="l"/>
            <a:r>
              <a:rPr lang="es-ES" sz="900" b="1" dirty="0"/>
              <a:t>(7, 'Entregado', 'Calle Norte 5, Bilbao', '2023-07-08', 7),</a:t>
            </a:r>
          </a:p>
          <a:p>
            <a:pPr algn="l"/>
            <a:r>
              <a:rPr lang="es-ES" sz="900" b="1" dirty="0"/>
              <a:t>(8, 'Pendiente', 'Calle Sur 18, Málaga', NULL, 8),</a:t>
            </a:r>
          </a:p>
          <a:p>
            <a:pPr algn="l"/>
            <a:r>
              <a:rPr lang="es-ES" sz="900" b="1" dirty="0"/>
              <a:t>(9, 'Entregado', 'Av. Libertad 30, Murcia', '2023-07-12', 9),</a:t>
            </a:r>
          </a:p>
          <a:p>
            <a:pPr algn="l"/>
            <a:r>
              <a:rPr lang="es-ES" sz="900" b="1" dirty="0"/>
              <a:t>(10,'Enviado', 'Calle Río 7, Toledo', NULL, 10);</a:t>
            </a:r>
          </a:p>
        </p:txBody>
      </p:sp>
      <p:pic>
        <p:nvPicPr>
          <p:cNvPr id="1026" name="Picture 2" descr="MariaDB Icon SVG Vector &amp; PNG Free Download | UXW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918" y="337366"/>
            <a:ext cx="898005" cy="732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5115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91641" y="957129"/>
            <a:ext cx="4009793" cy="3999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 smtClean="0"/>
              <a:t>Ventana </a:t>
            </a:r>
            <a:r>
              <a:rPr lang="es-ES" dirty="0"/>
              <a:t>de “seguridad” para mantener nuestra “</a:t>
            </a:r>
            <a:r>
              <a:rPr lang="es-ES" dirty="0" err="1"/>
              <a:t>MainView</a:t>
            </a:r>
            <a:r>
              <a:rPr lang="es-ES" dirty="0"/>
              <a:t>” </a:t>
            </a:r>
            <a:r>
              <a:rPr lang="es-ES" dirty="0" smtClean="0"/>
              <a:t>protegida</a:t>
            </a:r>
          </a:p>
          <a:p>
            <a:pPr marL="0" indent="0">
              <a:buNone/>
            </a:pPr>
            <a:endParaRPr lang="es-ES" sz="2000" b="1" dirty="0" smtClean="0"/>
          </a:p>
          <a:p>
            <a:pPr marL="0" indent="0">
              <a:buNone/>
            </a:pPr>
            <a:r>
              <a:rPr lang="es-ES" sz="2000" b="1" dirty="0" smtClean="0"/>
              <a:t>Para acceder a la aplicación, tenemos que hacer el </a:t>
            </a:r>
            <a:r>
              <a:rPr lang="es-ES" sz="2000" b="1" dirty="0" err="1" smtClean="0"/>
              <a:t>login</a:t>
            </a:r>
            <a:endParaRPr lang="es-ES" sz="2000" b="1" dirty="0" smtClean="0"/>
          </a:p>
          <a:p>
            <a:r>
              <a:rPr lang="es-ES" sz="2000" b="1" dirty="0" smtClean="0"/>
              <a:t>USUARIO: equipo </a:t>
            </a:r>
          </a:p>
          <a:p>
            <a:r>
              <a:rPr lang="es-ES" sz="2000" b="1" dirty="0" smtClean="0"/>
              <a:t>CONTRASEÑA: equipo</a:t>
            </a:r>
            <a:endParaRPr lang="es-ES" sz="2000" b="1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31" y="1217513"/>
            <a:ext cx="3421733" cy="343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84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91640" y="734939"/>
            <a:ext cx="5101839" cy="4007978"/>
          </a:xfrm>
        </p:spPr>
        <p:txBody>
          <a:bodyPr>
            <a:normAutofit/>
          </a:bodyPr>
          <a:lstStyle/>
          <a:p>
            <a:endParaRPr lang="es-ES" dirty="0"/>
          </a:p>
          <a:p>
            <a:pPr marL="0" indent="0">
              <a:buNone/>
            </a:pPr>
            <a:r>
              <a:rPr lang="es-ES" dirty="0" smtClean="0"/>
              <a:t>Si el </a:t>
            </a:r>
            <a:r>
              <a:rPr lang="es-ES" dirty="0" err="1" smtClean="0"/>
              <a:t>login</a:t>
            </a:r>
            <a:r>
              <a:rPr lang="es-ES" dirty="0" smtClean="0"/>
              <a:t> es correcto se </a:t>
            </a:r>
            <a:r>
              <a:rPr lang="es-ES" dirty="0"/>
              <a:t>carga el </a:t>
            </a:r>
            <a:r>
              <a:rPr lang="es-ES" dirty="0" err="1"/>
              <a:t>MainView</a:t>
            </a:r>
            <a:r>
              <a:rPr lang="es-ES" dirty="0" smtClean="0"/>
              <a:t>.</a:t>
            </a:r>
          </a:p>
          <a:p>
            <a:pPr marL="0" indent="0">
              <a:buNone/>
            </a:pPr>
            <a:endParaRPr lang="es-ES" sz="2000" b="1" dirty="0" smtClean="0"/>
          </a:p>
          <a:p>
            <a:pPr marL="0" indent="0">
              <a:buNone/>
            </a:pPr>
            <a:r>
              <a:rPr lang="es-ES" sz="2000" b="1" dirty="0" smtClean="0"/>
              <a:t>En la ventana principal es posible elegir </a:t>
            </a:r>
          </a:p>
          <a:p>
            <a:r>
              <a:rPr lang="es-ES" sz="2000" b="1" dirty="0" err="1" smtClean="0"/>
              <a:t>System</a:t>
            </a:r>
            <a:r>
              <a:rPr lang="es-ES" sz="2000" b="1" dirty="0" smtClean="0"/>
              <a:t> Management: Gestión de las tablas</a:t>
            </a:r>
          </a:p>
          <a:p>
            <a:r>
              <a:rPr lang="es-ES" sz="2000" b="1" dirty="0" smtClean="0"/>
              <a:t>View Data </a:t>
            </a:r>
            <a:r>
              <a:rPr lang="es-ES" sz="2000" b="1" dirty="0" err="1" smtClean="0"/>
              <a:t>Tables</a:t>
            </a:r>
            <a:r>
              <a:rPr lang="es-ES" sz="2000" b="1" dirty="0" smtClean="0"/>
              <a:t>: Ver los datos almacenados en las tablas</a:t>
            </a:r>
            <a:endParaRPr lang="es-ES" sz="20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71" y="1222048"/>
            <a:ext cx="3354499" cy="281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87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91640" y="734939"/>
            <a:ext cx="5101839" cy="4298534"/>
          </a:xfrm>
        </p:spPr>
        <p:txBody>
          <a:bodyPr>
            <a:normAutofit/>
          </a:bodyPr>
          <a:lstStyle/>
          <a:p>
            <a:endParaRPr lang="es-ES" dirty="0"/>
          </a:p>
          <a:p>
            <a:pPr marL="0" indent="0">
              <a:buNone/>
            </a:pPr>
            <a:r>
              <a:rPr lang="es-ES" dirty="0" smtClean="0"/>
              <a:t>Tenemos 3 entidades con un CRUD completo implementado</a:t>
            </a:r>
          </a:p>
          <a:p>
            <a:pPr marL="0" indent="0">
              <a:buNone/>
            </a:pPr>
            <a:endParaRPr lang="es-ES" sz="2000" b="1" dirty="0" smtClean="0"/>
          </a:p>
          <a:p>
            <a:r>
              <a:rPr lang="es-ES" sz="2000" b="1" dirty="0" err="1" smtClean="0"/>
              <a:t>Clients</a:t>
            </a:r>
            <a:endParaRPr lang="es-ES" sz="2000" b="1" dirty="0" smtClean="0"/>
          </a:p>
          <a:p>
            <a:r>
              <a:rPr lang="es-ES" sz="2000" b="1" dirty="0" err="1" smtClean="0"/>
              <a:t>Orders</a:t>
            </a:r>
            <a:endParaRPr lang="es-ES" sz="2000" b="1" dirty="0" smtClean="0"/>
          </a:p>
          <a:p>
            <a:r>
              <a:rPr lang="es-ES" sz="2000" b="1" dirty="0" err="1" smtClean="0"/>
              <a:t>Shipments</a:t>
            </a:r>
            <a:endParaRPr lang="es-ES" sz="2000" b="1" dirty="0" smtClean="0"/>
          </a:p>
          <a:p>
            <a:endParaRPr lang="es-ES" sz="2000" b="1" dirty="0"/>
          </a:p>
          <a:p>
            <a:pPr marL="0" indent="0">
              <a:buNone/>
            </a:pPr>
            <a:r>
              <a:rPr lang="es-ES" dirty="0"/>
              <a:t>En </a:t>
            </a:r>
            <a:r>
              <a:rPr lang="es-ES" dirty="0" err="1"/>
              <a:t>Settings</a:t>
            </a:r>
            <a:r>
              <a:rPr lang="es-ES" dirty="0"/>
              <a:t> es posible exportar la información en </a:t>
            </a:r>
            <a:r>
              <a:rPr lang="es-ES" dirty="0" err="1"/>
              <a:t>j</a:t>
            </a:r>
            <a:r>
              <a:rPr lang="es-ES" dirty="0" err="1"/>
              <a:t>son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13" y="1028026"/>
            <a:ext cx="3955679" cy="328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874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691640" y="734939"/>
            <a:ext cx="5101839" cy="4298534"/>
          </a:xfrm>
        </p:spPr>
        <p:txBody>
          <a:bodyPr>
            <a:normAutofit/>
          </a:bodyPr>
          <a:lstStyle/>
          <a:p>
            <a:endParaRPr lang="es-ES" dirty="0"/>
          </a:p>
          <a:p>
            <a:pPr marL="0" indent="0">
              <a:buNone/>
            </a:pPr>
            <a:r>
              <a:rPr lang="es-ES" dirty="0" smtClean="0"/>
              <a:t>Management es el formulario en que podemos buscar, añadir, modificar, eliminar y limpiar el formulario de cada una de las entidades</a:t>
            </a:r>
          </a:p>
          <a:p>
            <a:pPr marL="0" indent="0">
              <a:buNone/>
            </a:pPr>
            <a:endParaRPr lang="es-ES" sz="2000" b="1" dirty="0" smtClean="0"/>
          </a:p>
          <a:p>
            <a:r>
              <a:rPr lang="es-ES" sz="2000" b="1" dirty="0" err="1" smtClean="0"/>
              <a:t>Clients</a:t>
            </a:r>
            <a:endParaRPr lang="es-ES" sz="2000" b="1" dirty="0" smtClean="0"/>
          </a:p>
          <a:p>
            <a:r>
              <a:rPr lang="es-ES" sz="2000" b="1" dirty="0" err="1" smtClean="0"/>
              <a:t>Orders</a:t>
            </a:r>
            <a:endParaRPr lang="es-ES" sz="2000" b="1" dirty="0" smtClean="0"/>
          </a:p>
          <a:p>
            <a:r>
              <a:rPr lang="es-ES" sz="2000" b="1" dirty="0" err="1" smtClean="0"/>
              <a:t>Shipments</a:t>
            </a:r>
            <a:endParaRPr lang="es-ES" sz="2000" b="1" dirty="0" smtClean="0"/>
          </a:p>
          <a:p>
            <a:endParaRPr lang="es-ES" sz="2000" b="1" dirty="0"/>
          </a:p>
          <a:p>
            <a:pPr marL="0" indent="0">
              <a:buNone/>
            </a:pPr>
            <a:r>
              <a:rPr lang="es-ES" dirty="0"/>
              <a:t>En </a:t>
            </a:r>
            <a:r>
              <a:rPr lang="es-ES" dirty="0" err="1" smtClean="0"/>
              <a:t>Edit</a:t>
            </a:r>
            <a:r>
              <a:rPr lang="es-ES" dirty="0" smtClean="0"/>
              <a:t>-&gt;</a:t>
            </a:r>
            <a:r>
              <a:rPr lang="es-ES" dirty="0" err="1" smtClean="0"/>
              <a:t>Undo</a:t>
            </a:r>
            <a:r>
              <a:rPr lang="es-ES" dirty="0" smtClean="0"/>
              <a:t> </a:t>
            </a:r>
            <a:r>
              <a:rPr lang="es-ES" dirty="0"/>
              <a:t>es posible </a:t>
            </a:r>
            <a:r>
              <a:rPr lang="es-ES" dirty="0" smtClean="0"/>
              <a:t>deshacer la ultima operación realizada</a:t>
            </a:r>
            <a:endParaRPr lang="es-ES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56" y="1229645"/>
            <a:ext cx="3701441" cy="330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5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</TotalTime>
  <Words>587</Words>
  <Application>Microsoft Office PowerPoint</Application>
  <PresentationFormat>Panorámica</PresentationFormat>
  <Paragraphs>98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Faceta</vt:lpstr>
      <vt:lpstr>Base de datos: TABLAS</vt:lpstr>
      <vt:lpstr>Base de datos: INSERT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 de datos: TABLAS</dc:title>
  <dc:creator>S2-PC122</dc:creator>
  <cp:lastModifiedBy>S2-PC122</cp:lastModifiedBy>
  <cp:revision>4</cp:revision>
  <dcterms:created xsi:type="dcterms:W3CDTF">2026-02-07T12:16:24Z</dcterms:created>
  <dcterms:modified xsi:type="dcterms:W3CDTF">2026-02-07T12:50:51Z</dcterms:modified>
</cp:coreProperties>
</file>